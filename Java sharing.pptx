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411" r:id="rId3"/>
    <p:sldId id="258" r:id="rId4"/>
    <p:sldId id="408" r:id="rId5"/>
    <p:sldId id="409" r:id="rId6"/>
    <p:sldId id="410" r:id="rId7"/>
    <p:sldId id="404" r:id="rId8"/>
    <p:sldId id="406" r:id="rId9"/>
    <p:sldId id="412" r:id="rId10"/>
    <p:sldId id="413" r:id="rId11"/>
    <p:sldId id="405" r:id="rId12"/>
    <p:sldId id="407" r:id="rId13"/>
    <p:sldId id="40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>
        <p:scale>
          <a:sx n="100" d="100"/>
          <a:sy n="100" d="100"/>
        </p:scale>
        <p:origin x="113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C20AB-9886-47C7-8797-E7B6C8DDE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34E5A0-E695-49CC-97B7-8AC27E9AE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DA58E8-A88C-4FC8-8BC8-9A9BBCE6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E6415F-C72B-4F67-9724-EA3710D37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3C7AE-EE28-4196-937C-06E3D3F6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48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E868E-B732-4B43-9DCC-33F13951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38568D-0988-4D45-8C21-BE6C93807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E38B27-8299-469E-BCD2-877D94237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E0C47-07AC-420C-AA67-A05DDAE5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266A65-AD56-40BB-8467-10A09360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77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16669-3F0B-4DDD-B41E-9C50CEA99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D26569-A4E6-4A96-B2F0-CDF3B8318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F942BE-2A87-4C24-A4CB-2ADB6A5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6FBCE-738C-4195-8EA8-CA1196B8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70F37-E8B3-4A5A-9CDD-B4E1F0F5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00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681AD-827D-4B89-9CEB-53355362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C84EA9-4EEA-404F-A3C0-6498C1045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C1E796-20FD-467A-8D68-0BA923C99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4971E6-8657-41EF-A934-9E9CD569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E18EDE-7232-4E75-9B82-C91828EC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97CBBF-B8B4-410A-9EBD-28CAC3E6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58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F29F1-1548-4661-A6CA-B5431E03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134568-B0FC-4E9D-AE29-9B51C0C60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444BFA-1FC5-48EA-8412-615E15037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EAC403-493A-4353-94CC-31E448D33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2136A7-6572-49A0-A834-166DCC7553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995A1A-2395-435A-8D51-7EDA0EF7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A17B8B-ACE6-412B-B079-D920527F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24B0EB-5278-4480-B845-9B32B9CD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83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012A2-2468-4804-8C3E-4F6D0F61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29EDFC-A35E-42AB-ABAB-2F1ADE03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161FCF-B7FB-4488-9307-33EDB832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BFB9F2-3297-4429-B504-11B52367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5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BF087A-4CD0-4512-A689-5EDF60328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4D9A1D-FBC2-46EC-B481-824A9F60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6A30D9-7DC4-4759-9A9D-E0CD764F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59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4DF9F-7D76-4373-9618-9B38BD0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9F8F0C-6FAC-4A22-873A-689B7F3C7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0A05C6-FD55-4CC0-B26C-5FC3EC8FE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AEC9C1-453A-4DC5-A9AC-2AB84D4F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9BA566-0B64-447D-9FDD-50D1E255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C8B107-74C7-4425-8F32-4A234194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69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609C6-2548-4D2B-88F1-B3F143FF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08AAED4-9796-4CCF-83D8-65DD66BE1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7404D4-A627-4AE7-A8E9-2342214DD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BE997A-F628-4370-836A-5E556387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848164-0AAF-4DC4-A8A1-24C0D9E0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FFDDAA-13E4-4E41-847F-06084AFE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700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95107-1C41-4415-A936-44F32B5F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11A5F2-F5E5-4182-A9BF-60526BB3D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591761-49BA-4A0A-87F6-3C165DE68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5BDF0C-2AE4-40E4-8EDA-7105FA8E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AAE6B2-1C01-436D-99FA-DEF38C9B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64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B0C229-947D-497B-8149-27859F7A6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6F6BF6-80F7-4CFD-AD13-72D7DB693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E61DD-D08C-4150-BC12-D0717DCD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EE316-14BD-4A4F-84F2-547DB863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BCF93-CCD9-4C5B-97B4-A49373D0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636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AF896-8C5E-4536-AE84-A496CFC8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91566725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B0EDA1-4A64-4C2B-9874-27A011A4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505724-1363-4103-87CB-6F1DF43E7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64D4D-E4A1-4942-A9A9-8D3F943D1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23339-E499-45CE-9560-A517812253B6}" type="datetimeFigureOut">
              <a:rPr lang="zh-CN" altLang="en-US" smtClean="0"/>
              <a:t>2020/9/3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3836F-6CC5-45C4-9A1A-921EA029F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CD3BC-614F-4F4E-BB60-111958216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D11E-ABF6-4575-A40D-0B4F09DCA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94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641B8-E73D-486C-95F5-4427CDA3A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2544445"/>
            <a:ext cx="10515600" cy="1325563"/>
          </a:xfr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altLang="zh-CN" sz="7200" b="1" dirty="0">
                <a:solidFill>
                  <a:srgbClr val="1E1D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Java </a:t>
            </a:r>
            <a:r>
              <a:rPr lang="zh-CN" altLang="en-US" sz="7200" b="1" dirty="0">
                <a:solidFill>
                  <a:srgbClr val="1E1D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之路</a:t>
            </a:r>
          </a:p>
        </p:txBody>
      </p:sp>
    </p:spTree>
    <p:extLst>
      <p:ext uri="{BB962C8B-B14F-4D97-AF65-F5344CB8AC3E}">
        <p14:creationId xmlns:p14="http://schemas.microsoft.com/office/powerpoint/2010/main" val="2690031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20年TIOBE的编程语言排行版2020年TIOBE的编程语言排行版">
            <a:extLst>
              <a:ext uri="{FF2B5EF4-FFF2-40B4-BE49-F238E27FC236}">
                <a16:creationId xmlns:a16="http://schemas.microsoft.com/office/drawing/2014/main" id="{87B9D64E-E983-44BB-ADD4-E1A5578AEECC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363" y="778574"/>
            <a:ext cx="6797040" cy="551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CD89171-DE02-441A-A2EF-04C22271ECF5}"/>
              </a:ext>
            </a:extLst>
          </p:cNvPr>
          <p:cNvSpPr txBox="1"/>
          <p:nvPr/>
        </p:nvSpPr>
        <p:spPr>
          <a:xfrm>
            <a:off x="1630675" y="43683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324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8">
            <a:extLst>
              <a:ext uri="{FF2B5EF4-FFF2-40B4-BE49-F238E27FC236}">
                <a16:creationId xmlns:a16="http://schemas.microsoft.com/office/drawing/2014/main" id="{EA2F2603-99A4-4EDE-9A38-9B6D0FE0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19" y="1375271"/>
            <a:ext cx="6321552" cy="30639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A5ECDF2-8A8A-4DB7-83CE-3B2A98CF2A62}"/>
              </a:ext>
            </a:extLst>
          </p:cNvPr>
          <p:cNvSpPr txBox="1"/>
          <p:nvPr/>
        </p:nvSpPr>
        <p:spPr>
          <a:xfrm>
            <a:off x="2447713" y="4697968"/>
            <a:ext cx="329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TIOBE </a:t>
            </a:r>
            <a:r>
              <a:rPr lang="zh-CN" altLang="en-US" b="1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指数走势</a:t>
            </a:r>
            <a:r>
              <a:rPr lang="en-US" altLang="zh-CN" b="1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(2002-2020)</a:t>
            </a:r>
            <a:endParaRPr lang="zh-CN" altLang="en-US" dirty="0"/>
          </a:p>
        </p:txBody>
      </p:sp>
      <p:sp>
        <p:nvSpPr>
          <p:cNvPr id="3" name="AutoShape 2" descr="History of Java - JournalDev">
            <a:extLst>
              <a:ext uri="{FF2B5EF4-FFF2-40B4-BE49-F238E27FC236}">
                <a16:creationId xmlns:a16="http://schemas.microsoft.com/office/drawing/2014/main" id="{53BB8D27-78F6-4273-AAF4-A060392014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A1E1257-0C01-4C32-AB43-72BD2A4BC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609" y="100882"/>
            <a:ext cx="2991355" cy="665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38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EC9EDDF-A110-4DDB-A24C-993E0BBF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Java 1.1-1.4</a:t>
            </a:r>
            <a:endParaRPr lang="zh-CN" alt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4DE01-D49B-421B-AFB8-EF4F8CD3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800" dirty="0"/>
              <a:t>1.1</a:t>
            </a:r>
            <a:r>
              <a:rPr lang="zh-CN" altLang="en-US" sz="1800" dirty="0"/>
              <a:t>：改进</a:t>
            </a:r>
            <a:r>
              <a:rPr lang="en-US" altLang="zh-CN" sz="1800" dirty="0"/>
              <a:t>AWT</a:t>
            </a:r>
            <a:r>
              <a:rPr lang="zh-CN" altLang="en-US" sz="1800" dirty="0"/>
              <a:t>事件模型</a:t>
            </a:r>
            <a:r>
              <a:rPr lang="en-US" altLang="zh-CN" sz="1800" dirty="0"/>
              <a:t>, JavaBean, JDBC</a:t>
            </a:r>
            <a:r>
              <a:rPr lang="zh-CN" altLang="en-US" sz="1800" dirty="0"/>
              <a:t>（</a:t>
            </a:r>
            <a:r>
              <a:rPr lang="en-US" altLang="zh-CN" sz="1800" dirty="0"/>
              <a:t>Java</a:t>
            </a:r>
            <a:r>
              <a:rPr lang="zh-CN" altLang="en-US" sz="1800" dirty="0"/>
              <a:t>数据库连接）</a:t>
            </a:r>
            <a:r>
              <a:rPr lang="en-US" altLang="zh-CN" sz="1800" dirty="0"/>
              <a:t>,</a:t>
            </a:r>
            <a:r>
              <a:rPr lang="zh-CN" altLang="en-US" sz="1800" dirty="0"/>
              <a:t>内部类</a:t>
            </a:r>
            <a:r>
              <a:rPr lang="en-US" altLang="zh-CN" sz="1800" dirty="0"/>
              <a:t>,RMI</a:t>
            </a:r>
            <a:r>
              <a:rPr lang="zh-CN" altLang="en-US" sz="1800" dirty="0"/>
              <a:t>（远程方法调用）</a:t>
            </a:r>
            <a:r>
              <a:rPr lang="en-US" altLang="zh-CN" sz="1800" dirty="0"/>
              <a:t>,</a:t>
            </a:r>
            <a:r>
              <a:rPr lang="zh-CN" altLang="en-US" sz="1800" dirty="0"/>
              <a:t>反射（只支持内省）</a:t>
            </a:r>
            <a:endParaRPr lang="en-US" altLang="zh-CN" sz="1800" dirty="0"/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1800" dirty="0"/>
          </a:p>
          <a:p>
            <a:r>
              <a:rPr lang="en-US" altLang="zh-CN" sz="1800" dirty="0"/>
              <a:t>1.2: </a:t>
            </a:r>
            <a:r>
              <a:rPr lang="zh-CN" altLang="en-US" sz="1800" dirty="0"/>
              <a:t>集合框架</a:t>
            </a:r>
            <a:r>
              <a:rPr lang="en-US" altLang="zh-CN" sz="1800" dirty="0"/>
              <a:t>, JIT</a:t>
            </a:r>
            <a:r>
              <a:rPr lang="zh-CN" altLang="en-US" sz="1800" dirty="0"/>
              <a:t>编译器</a:t>
            </a:r>
            <a:r>
              <a:rPr lang="en-US" altLang="zh-CN" sz="1800" dirty="0"/>
              <a:t>,</a:t>
            </a:r>
            <a:r>
              <a:rPr lang="zh-CN" altLang="en-US" sz="1800" dirty="0"/>
              <a:t> </a:t>
            </a:r>
            <a:r>
              <a:rPr lang="en-US" altLang="zh-CN" sz="1800" dirty="0"/>
              <a:t>JFC</a:t>
            </a:r>
            <a:r>
              <a:rPr lang="zh-CN" altLang="en-US" sz="1800" dirty="0"/>
              <a:t>（</a:t>
            </a:r>
            <a:r>
              <a:rPr lang="en-US" altLang="zh-CN" sz="1800" dirty="0"/>
              <a:t>Java</a:t>
            </a:r>
            <a:r>
              <a:rPr lang="zh-CN" altLang="en-US" sz="1800" dirty="0"/>
              <a:t>基础类库）</a:t>
            </a:r>
            <a:r>
              <a:rPr lang="en-US" altLang="zh-CN" sz="1800" dirty="0"/>
              <a:t>,</a:t>
            </a:r>
            <a:r>
              <a:rPr lang="zh-CN" altLang="en-US" sz="1800" dirty="0"/>
              <a:t> </a:t>
            </a:r>
            <a:r>
              <a:rPr lang="en-US" altLang="zh-CN" sz="1800" dirty="0"/>
              <a:t>JDBC</a:t>
            </a:r>
            <a:r>
              <a:rPr lang="zh-CN" altLang="en-US" sz="1800" dirty="0"/>
              <a:t>可滚动结果集、</a:t>
            </a:r>
            <a:r>
              <a:rPr lang="en-US" altLang="zh-CN" sz="1800" dirty="0"/>
              <a:t>BLOB</a:t>
            </a:r>
            <a:r>
              <a:rPr lang="zh-CN" altLang="en-US" sz="1800" dirty="0"/>
              <a:t>、</a:t>
            </a:r>
            <a:r>
              <a:rPr lang="en-US" altLang="zh-CN" sz="1800" dirty="0"/>
              <a:t>CLOB</a:t>
            </a:r>
            <a:r>
              <a:rPr lang="zh-CN" altLang="en-US" sz="1800" dirty="0"/>
              <a:t>、批处理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en-US" altLang="zh-CN" sz="1800" dirty="0"/>
              <a:t>1.3: </a:t>
            </a:r>
            <a:r>
              <a:rPr lang="zh-CN" altLang="en-US" sz="1800" dirty="0"/>
              <a:t>内置 </a:t>
            </a:r>
            <a:r>
              <a:rPr lang="en-US" altLang="zh-CN" sz="1800" dirty="0" err="1"/>
              <a:t>HotSpot</a:t>
            </a:r>
            <a:r>
              <a:rPr lang="en-US" altLang="zh-CN" sz="1800" dirty="0"/>
              <a:t> JVM, JNDI , JPDA</a:t>
            </a:r>
            <a:r>
              <a:rPr lang="zh-CN" altLang="en-US" sz="1800" dirty="0"/>
              <a:t>（</a:t>
            </a:r>
            <a:r>
              <a:rPr lang="en-US" altLang="zh-CN" sz="1800" dirty="0"/>
              <a:t>Java</a:t>
            </a:r>
            <a:r>
              <a:rPr lang="zh-CN" altLang="en-US" sz="1800" dirty="0"/>
              <a:t>平台调试器体系）</a:t>
            </a:r>
            <a:endParaRPr lang="en-US" altLang="zh-CN" sz="1800" dirty="0"/>
          </a:p>
          <a:p>
            <a:endParaRPr lang="zh-CN" altLang="en-US" sz="1800" dirty="0"/>
          </a:p>
          <a:p>
            <a:r>
              <a:rPr lang="en-US" altLang="zh-CN" sz="1800" dirty="0"/>
              <a:t>1.4:  JDBC 3.0 API,</a:t>
            </a:r>
            <a:r>
              <a:rPr lang="zh-CN" altLang="en-US" sz="1800" dirty="0"/>
              <a:t>支持正则表达式</a:t>
            </a:r>
            <a:r>
              <a:rPr lang="en-US" altLang="zh-CN" sz="1800" dirty="0"/>
              <a:t>, NIO</a:t>
            </a:r>
          </a:p>
        </p:txBody>
      </p:sp>
    </p:spTree>
    <p:extLst>
      <p:ext uri="{BB962C8B-B14F-4D97-AF65-F5344CB8AC3E}">
        <p14:creationId xmlns:p14="http://schemas.microsoft.com/office/powerpoint/2010/main" val="84170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EC9EDDF-A110-4DDB-A24C-993E0BBF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Java 1.5-1.6</a:t>
            </a:r>
            <a:endParaRPr lang="zh-CN" alt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4DE01-D49B-421B-AFB8-EF4F8CD3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1.5:</a:t>
            </a:r>
            <a:r>
              <a:rPr lang="zh-CN" altLang="en-US" sz="1800" dirty="0"/>
              <a:t>泛型</a:t>
            </a:r>
            <a:r>
              <a:rPr lang="en-US" altLang="zh-CN" sz="1800" dirty="0"/>
              <a:t>, for-each </a:t>
            </a:r>
            <a:r>
              <a:rPr lang="zh-CN" altLang="en-US" sz="1800" dirty="0"/>
              <a:t>循环</a:t>
            </a:r>
            <a:r>
              <a:rPr lang="en-US" altLang="zh-CN" sz="1800" dirty="0"/>
              <a:t>,</a:t>
            </a:r>
            <a:r>
              <a:rPr lang="zh-CN" altLang="en-US" sz="1800" dirty="0"/>
              <a:t>自动装箱和拆箱 </a:t>
            </a:r>
            <a:r>
              <a:rPr lang="en-US" altLang="zh-CN" sz="1800" dirty="0"/>
              <a:t>,</a:t>
            </a:r>
            <a:r>
              <a:rPr lang="zh-CN" altLang="en-US" sz="1800" dirty="0"/>
              <a:t>枚举 </a:t>
            </a:r>
            <a:r>
              <a:rPr lang="en-US" altLang="zh-CN" sz="1800" dirty="0"/>
              <a:t>,</a:t>
            </a:r>
            <a:r>
              <a:rPr lang="zh-CN" altLang="en-US" sz="1800" dirty="0"/>
              <a:t>可变参数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java.util.concurrent</a:t>
            </a:r>
            <a:r>
              <a:rPr lang="en-US" altLang="zh-CN" sz="1800" dirty="0"/>
              <a:t>,</a:t>
            </a:r>
            <a:r>
              <a:rPr lang="zh-CN" altLang="en-US" sz="1800" dirty="0"/>
              <a:t>注解</a:t>
            </a:r>
            <a:endParaRPr lang="en-US" altLang="zh-CN" sz="1800" dirty="0"/>
          </a:p>
          <a:p>
            <a:endParaRPr lang="zh-CN" altLang="en-US" sz="1800" dirty="0"/>
          </a:p>
          <a:p>
            <a:r>
              <a:rPr lang="en-US" altLang="zh-CN" sz="1800" dirty="0"/>
              <a:t>1.6:</a:t>
            </a:r>
            <a:r>
              <a:rPr lang="zh-CN" altLang="en-US" sz="1800" dirty="0"/>
              <a:t>支持脚本语言</a:t>
            </a:r>
            <a:r>
              <a:rPr lang="en-US" altLang="zh-CN" sz="1800" dirty="0"/>
              <a:t>, JDBC 4.0 API, </a:t>
            </a:r>
            <a:r>
              <a:rPr lang="en-US" altLang="zh-CN" sz="1800" dirty="0" err="1"/>
              <a:t>WebService</a:t>
            </a:r>
            <a:r>
              <a:rPr lang="zh-CN" altLang="en-US" sz="1800" dirty="0"/>
              <a:t>增强</a:t>
            </a:r>
          </a:p>
          <a:p>
            <a:endParaRPr lang="en-US" altLang="zh-CN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243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EC9EDDF-A110-4DDB-A24C-993E0BBF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Java 1.7-1.8</a:t>
            </a:r>
            <a:endParaRPr lang="zh-CN" alt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4DE01-D49B-421B-AFB8-EF4F8CD3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1.7: </a:t>
            </a:r>
            <a:r>
              <a:rPr lang="zh-CN" altLang="en-US" sz="1800" dirty="0"/>
              <a:t>泛型推断， </a:t>
            </a:r>
            <a:r>
              <a:rPr lang="en-US" altLang="zh-CN" sz="1800" dirty="0"/>
              <a:t>TWR</a:t>
            </a:r>
            <a:r>
              <a:rPr lang="zh-CN" altLang="en-US" sz="1800" dirty="0"/>
              <a:t>（</a:t>
            </a:r>
            <a:r>
              <a:rPr lang="en-US" altLang="zh-CN" sz="1800" dirty="0"/>
              <a:t>try-with-resources</a:t>
            </a:r>
            <a:r>
              <a:rPr lang="zh-CN" altLang="en-US" sz="1800" dirty="0"/>
              <a:t>） </a:t>
            </a:r>
            <a:r>
              <a:rPr lang="en-US" altLang="zh-CN" sz="1800" dirty="0"/>
              <a:t>NIO.2</a:t>
            </a:r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en-US" altLang="zh-CN" sz="1800" dirty="0"/>
              <a:t>1.8</a:t>
            </a:r>
            <a:r>
              <a:rPr lang="zh-CN" altLang="en-US" sz="1800" dirty="0"/>
              <a:t>：</a:t>
            </a:r>
            <a:r>
              <a:rPr lang="en-US" altLang="zh-CN" sz="1800" dirty="0"/>
              <a:t>Lambda</a:t>
            </a:r>
            <a:r>
              <a:rPr lang="zh-CN" altLang="en-US" sz="1800" dirty="0"/>
              <a:t>表达式，新的时间日期</a:t>
            </a:r>
            <a:r>
              <a:rPr lang="en-US" altLang="zh-CN" sz="1800" dirty="0"/>
              <a:t>API</a:t>
            </a:r>
            <a:endParaRPr lang="zh-CN" altLang="en-US" sz="1800" dirty="0"/>
          </a:p>
          <a:p>
            <a:endParaRPr lang="en-US" altLang="zh-CN" sz="1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57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EC9EDDF-A110-4DDB-A24C-993E0BBF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Java </a:t>
            </a:r>
            <a:r>
              <a:rPr lang="zh-CN" altLang="en-US" b="1" dirty="0"/>
              <a:t>平台架构图</a:t>
            </a: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990FBC57-C01B-48DA-A09A-3605B402E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443" y="1825625"/>
            <a:ext cx="6717114" cy="4351338"/>
          </a:xfrm>
        </p:spPr>
      </p:pic>
    </p:spTree>
    <p:extLst>
      <p:ext uri="{BB962C8B-B14F-4D97-AF65-F5344CB8AC3E}">
        <p14:creationId xmlns:p14="http://schemas.microsoft.com/office/powerpoint/2010/main" val="1768956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EC9EDDF-A110-4DDB-A24C-993E0BBF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Java</a:t>
            </a:r>
            <a:r>
              <a:rPr lang="zh-CN" altLang="en-US" b="1" dirty="0"/>
              <a:t>世界的构建工具和依赖管理工具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4DE01-D49B-421B-AFB8-EF4F8CD3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1. Ant + Ivy</a:t>
            </a:r>
          </a:p>
          <a:p>
            <a:pPr marL="0" indent="0">
              <a:buNone/>
            </a:pPr>
            <a:r>
              <a:rPr lang="en-US" altLang="zh-CN" sz="1800" dirty="0"/>
              <a:t>Apache Ant,</a:t>
            </a:r>
            <a:r>
              <a:rPr lang="zh-CN" altLang="en-US" sz="1800" dirty="0"/>
              <a:t>是由</a:t>
            </a:r>
            <a:r>
              <a:rPr lang="en-US" altLang="zh-CN" sz="1800" dirty="0"/>
              <a:t>Apache</a:t>
            </a:r>
            <a:r>
              <a:rPr lang="zh-CN" altLang="en-US" sz="1800" dirty="0"/>
              <a:t>软件基金会所提供的自动化构建工具。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Apache Ivy</a:t>
            </a:r>
            <a:r>
              <a:rPr lang="zh-CN" altLang="en-US" sz="1800" dirty="0"/>
              <a:t>是</a:t>
            </a:r>
            <a:r>
              <a:rPr lang="en-US" altLang="zh-CN" sz="1800" dirty="0"/>
              <a:t>Apache Ant</a:t>
            </a:r>
            <a:r>
              <a:rPr lang="zh-CN" altLang="en-US" sz="1800" dirty="0"/>
              <a:t>的一个子项目，用来给</a:t>
            </a:r>
            <a:r>
              <a:rPr lang="en-US" altLang="zh-CN" sz="1800" dirty="0"/>
              <a:t>Apache Ant</a:t>
            </a:r>
            <a:r>
              <a:rPr lang="zh-CN" altLang="en-US" sz="1800" dirty="0"/>
              <a:t>提供依赖管理。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Build.xml: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Ivy.xml: </a:t>
            </a:r>
          </a:p>
          <a:p>
            <a:pPr marL="0" indent="0">
              <a:buNone/>
            </a:pPr>
            <a:endParaRPr lang="zh-CN" altLang="en-US" sz="1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E51035-CAE3-446D-A540-6426FE587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480" y="3086050"/>
            <a:ext cx="6226080" cy="11430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25508B-D21C-4118-8CC0-0C8D986C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480" y="4528627"/>
            <a:ext cx="4953429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5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5">
            <a:extLst>
              <a:ext uri="{FF2B5EF4-FFF2-40B4-BE49-F238E27FC236}">
                <a16:creationId xmlns:a16="http://schemas.microsoft.com/office/drawing/2014/main" id="{991813E1-8C69-4B04-937D-216CDFC370DC}"/>
              </a:ext>
            </a:extLst>
          </p:cNvPr>
          <p:cNvSpPr txBox="1">
            <a:spLocks/>
          </p:cNvSpPr>
          <p:nvPr/>
        </p:nvSpPr>
        <p:spPr>
          <a:xfrm>
            <a:off x="838200" y="80454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2. Maven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Maven</a:t>
            </a:r>
            <a:r>
              <a:rPr lang="zh-CN" altLang="en-US" sz="1800" dirty="0"/>
              <a:t>是一个项目管理和综合工具。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Maven</a:t>
            </a:r>
            <a:r>
              <a:rPr lang="zh-CN" altLang="en-US" sz="1800" dirty="0"/>
              <a:t>提供了开发人员构建一个完整的生命周期框架。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/>
              <a:t>开发团队可以自动完成项目的基础工具建设，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Maven</a:t>
            </a:r>
            <a:r>
              <a:rPr lang="zh-CN" altLang="en-US" sz="1800" dirty="0"/>
              <a:t>使用标准的目录结构和默认构建生命周期。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/>
              <a:t>三种生命周期：</a:t>
            </a:r>
            <a:r>
              <a:rPr lang="en-US" altLang="zh-CN" sz="1800" dirty="0"/>
              <a:t>clean   default   site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clean:  pre-clean-&gt;clean-&gt; post clean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Site: pre-site-&gt;site-&gt;post-site-&gt;site-deploy</a:t>
            </a:r>
            <a:endParaRPr lang="zh-CN" altLang="en-US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67BD85-5BA9-449F-B2C0-9D1AE8586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21" y="259638"/>
            <a:ext cx="1813717" cy="54411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0D7A40B-0C30-4667-B757-C979444BA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1" y="4015740"/>
            <a:ext cx="5970841" cy="28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2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5">
            <a:extLst>
              <a:ext uri="{FF2B5EF4-FFF2-40B4-BE49-F238E27FC236}">
                <a16:creationId xmlns:a16="http://schemas.microsoft.com/office/drawing/2014/main" id="{991813E1-8C69-4B04-937D-216CDFC370DC}"/>
              </a:ext>
            </a:extLst>
          </p:cNvPr>
          <p:cNvSpPr txBox="1">
            <a:spLocks/>
          </p:cNvSpPr>
          <p:nvPr/>
        </p:nvSpPr>
        <p:spPr>
          <a:xfrm>
            <a:off x="838200" y="80454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3. Gradle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Gradle</a:t>
            </a:r>
            <a:r>
              <a:rPr lang="zh-CN" altLang="en-US" sz="1800" dirty="0"/>
              <a:t>是一个基于</a:t>
            </a:r>
            <a:r>
              <a:rPr lang="en-US" altLang="zh-CN" sz="1800" dirty="0"/>
              <a:t>Apache Ant</a:t>
            </a:r>
            <a:r>
              <a:rPr lang="zh-CN" altLang="en-US" sz="1800" dirty="0"/>
              <a:t>和</a:t>
            </a:r>
            <a:r>
              <a:rPr lang="en-US" altLang="zh-CN" sz="1800" dirty="0"/>
              <a:t>Apache Maven</a:t>
            </a:r>
            <a:r>
              <a:rPr lang="zh-CN" altLang="en-US" sz="1800" dirty="0"/>
              <a:t>概念的项目自动化构建开源工具。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/>
              <a:t>它使用一种基于</a:t>
            </a:r>
            <a:r>
              <a:rPr lang="en-US" altLang="zh-CN" sz="1800" dirty="0"/>
              <a:t>Groovy</a:t>
            </a:r>
            <a:r>
              <a:rPr lang="zh-CN" altLang="en-US" sz="1800" dirty="0"/>
              <a:t>的特定领域语言</a:t>
            </a:r>
            <a:r>
              <a:rPr lang="en-US" altLang="zh-CN" sz="1800" dirty="0"/>
              <a:t>(DSL)</a:t>
            </a:r>
            <a:r>
              <a:rPr lang="zh-CN" altLang="en-US" sz="1800" dirty="0"/>
              <a:t>来声明项目设置，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/>
              <a:t>目前也增加了基于</a:t>
            </a:r>
            <a:r>
              <a:rPr lang="en-US" altLang="zh-CN" sz="1800" dirty="0"/>
              <a:t>Kotlin</a:t>
            </a:r>
            <a:r>
              <a:rPr lang="zh-CN" altLang="en-US" sz="1800" dirty="0"/>
              <a:t>语言的</a:t>
            </a:r>
            <a:r>
              <a:rPr lang="en-US" altLang="zh-CN" sz="1800" dirty="0" err="1"/>
              <a:t>kotlin</a:t>
            </a:r>
            <a:r>
              <a:rPr lang="en-US" altLang="zh-CN" sz="1800" dirty="0"/>
              <a:t>-based DSL</a:t>
            </a:r>
            <a:r>
              <a:rPr lang="zh-CN" altLang="en-US" sz="1800" dirty="0"/>
              <a:t>，抛弃了基于</a:t>
            </a:r>
            <a:r>
              <a:rPr lang="en-US" altLang="zh-CN" sz="1800" dirty="0"/>
              <a:t>XML</a:t>
            </a:r>
            <a:r>
              <a:rPr lang="zh-CN" altLang="en-US" sz="1800" dirty="0"/>
              <a:t>的各种繁琐配置。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6D343B-3CA3-44B4-9192-DD5854214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763" y="2506661"/>
            <a:ext cx="6180473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10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EC9EDDF-A110-4DDB-A24C-993E0BBF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Spring Framework</a:t>
            </a:r>
            <a:endParaRPr lang="zh-CN" alt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4DE01-D49B-421B-AFB8-EF4F8CD3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dirty="0"/>
              <a:t>Spring</a:t>
            </a:r>
            <a:r>
              <a:rPr lang="zh-CN" altLang="en-US" sz="1600" dirty="0"/>
              <a:t>是一个开源的轻量级开发框架，是为了解决企业应用程序的复杂性而创建的。</a:t>
            </a:r>
            <a:endParaRPr lang="en-US" altLang="zh-CN" sz="1600" dirty="0"/>
          </a:p>
          <a:p>
            <a:r>
              <a:rPr lang="en-US" altLang="zh-CN" sz="1600" dirty="0"/>
              <a:t>Spring</a:t>
            </a:r>
            <a:r>
              <a:rPr lang="zh-CN" altLang="en-US" sz="1600" dirty="0"/>
              <a:t>设计初衷是使</a:t>
            </a:r>
            <a:r>
              <a:rPr lang="en-US" altLang="zh-CN" sz="1600" dirty="0" err="1"/>
              <a:t>JavaEE</a:t>
            </a:r>
            <a:r>
              <a:rPr lang="zh-CN" altLang="en-US" sz="1600" dirty="0"/>
              <a:t>更加容易，为</a:t>
            </a:r>
            <a:r>
              <a:rPr lang="en-US" altLang="zh-CN" sz="1600" dirty="0"/>
              <a:t>JavaBean</a:t>
            </a:r>
            <a:r>
              <a:rPr lang="zh-CN" altLang="en-US" sz="1600" dirty="0"/>
              <a:t>提供配置框架，使程序易于测试，设计目标是简单易用，与应用程序解耦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5F939E-BA51-4BE1-B9A9-2771D4B1A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873" y="2861179"/>
            <a:ext cx="5700254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91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EC9EDDF-A110-4DDB-A24C-993E0BBF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Spring Boot Framework</a:t>
            </a:r>
            <a:endParaRPr lang="zh-CN" alt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4DE01-D49B-421B-AFB8-EF4F8CD3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Spring Boot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是由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Pivotal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团队提供的全新框架，其设计目的是用来简化新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Spring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应用的初始搭建以及开发过程。该框架使用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了特定的方式来进行配置，从而使开发人员不再需要定义样板化的配置。</a:t>
            </a:r>
            <a:endParaRPr lang="en-US" altLang="zh-CN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Tx/>
              <a:buChar char="-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快速创建独立运行的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Spring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项目以及与主流框架集成</a:t>
            </a:r>
            <a:endParaRPr lang="en-US" altLang="zh-CN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Tx/>
              <a:buChar char="-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使用嵌入式的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Servlet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容器， 应用无需打成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WAR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包</a:t>
            </a:r>
            <a:endParaRPr lang="en-US" altLang="zh-CN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Tx/>
              <a:buChar char="-"/>
            </a:pP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Starters 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自动依赖与版本控制</a:t>
            </a:r>
            <a:endParaRPr lang="en-US" altLang="zh-CN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Tx/>
              <a:buChar char="-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大量的自动配置，简化开发</a:t>
            </a:r>
            <a:endParaRPr lang="en-US" altLang="zh-CN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Tx/>
              <a:buChar char="-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无需配置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XML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，开箱即用</a:t>
            </a:r>
          </a:p>
        </p:txBody>
      </p:sp>
    </p:spTree>
    <p:extLst>
      <p:ext uri="{BB962C8B-B14F-4D97-AF65-F5344CB8AC3E}">
        <p14:creationId xmlns:p14="http://schemas.microsoft.com/office/powerpoint/2010/main" val="446789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DF9A749-E781-412C-80DA-2460D6B73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926" y="626727"/>
            <a:ext cx="6815667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3733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 </a:t>
            </a:r>
            <a:r>
              <a:rPr lang="zh-CN" altLang="en-US" sz="3733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几个问题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A1DBA0-F48F-4C17-85C8-2E6910A9983E}"/>
              </a:ext>
            </a:extLst>
          </p:cNvPr>
          <p:cNvSpPr txBox="1"/>
          <p:nvPr/>
        </p:nvSpPr>
        <p:spPr>
          <a:xfrm>
            <a:off x="1736986" y="2129450"/>
            <a:ext cx="47550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相比于其他语言最大的优势是什么？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语言的发展方向？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459650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523</Words>
  <Application>Microsoft Office PowerPoint</Application>
  <PresentationFormat>宽屏</PresentationFormat>
  <Paragraphs>63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等线</vt:lpstr>
      <vt:lpstr>等线 Light</vt:lpstr>
      <vt:lpstr>微软雅黑</vt:lpstr>
      <vt:lpstr>微软雅黑</vt:lpstr>
      <vt:lpstr>Arial</vt:lpstr>
      <vt:lpstr>Tahoma</vt:lpstr>
      <vt:lpstr>Verdana</vt:lpstr>
      <vt:lpstr>Office 主题​​</vt:lpstr>
      <vt:lpstr>Java 之路</vt:lpstr>
      <vt:lpstr>PowerPoint 演示文稿</vt:lpstr>
      <vt:lpstr>PowerPoint 演示文稿</vt:lpstr>
      <vt:lpstr>Java 1.1-1.4</vt:lpstr>
      <vt:lpstr>Java 1.5-1.6</vt:lpstr>
      <vt:lpstr>Java 1.7-1.8</vt:lpstr>
      <vt:lpstr>Java 平台架构图</vt:lpstr>
      <vt:lpstr>Java世界的构建工具和依赖管理工具</vt:lpstr>
      <vt:lpstr>PowerPoint 演示文稿</vt:lpstr>
      <vt:lpstr>PowerPoint 演示文稿</vt:lpstr>
      <vt:lpstr>Spring Framework</vt:lpstr>
      <vt:lpstr>Spring Boot Framework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Cong</dc:creator>
  <cp:lastModifiedBy>Liu Cong</cp:lastModifiedBy>
  <cp:revision>16</cp:revision>
  <dcterms:created xsi:type="dcterms:W3CDTF">2020-09-01T15:05:10Z</dcterms:created>
  <dcterms:modified xsi:type="dcterms:W3CDTF">2020-09-04T00:32:59Z</dcterms:modified>
</cp:coreProperties>
</file>